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</p:sldIdLst>
  <p:sldSz cx="9144000" cy="5143500" type="screen16x9"/>
  <p:notesSz cx="6858000" cy="9144000"/>
  <p:embeddedFontLst>
    <p:embeddedFont>
      <p:font typeface="Google Sans Flex" panose="020B0604020202020204" charset="0"/>
      <p:regular r:id="rId16"/>
      <p:bold r:id="rId17"/>
    </p:embeddedFont>
    <p:embeddedFont>
      <p:font typeface="Google Sans Flex Medium" panose="020B0604020202020204" charset="0"/>
      <p:regular r:id="rId18"/>
      <p:bold r:id="rId19"/>
    </p:embeddedFont>
    <p:embeddedFont>
      <p:font typeface="Google Sans Flex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ieldcarbon-frontend-818326148498.us-central1.run.app" TargetMode="External"/><Relationship Id="rId5" Type="http://schemas.openxmlformats.org/officeDocument/2006/relationships/hyperlink" Target="https://github.com/Hitmantejas/FieldCarbon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800" b="1">
                <a:solidFill>
                  <a:srgbClr val="202124"/>
                </a:solidFill>
                <a:latin typeface="Google Sans Flex"/>
              </a:rPr>
              <a:t>Valtechies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800" b="1">
                <a:solidFill>
                  <a:srgbClr val="202124"/>
                </a:solidFill>
                <a:latin typeface="Google Sans Flex"/>
              </a:rPr>
              <a:t>Tejas Bhorade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400" b="1">
                <a:solidFill>
                  <a:srgbClr val="202124"/>
                </a:solidFill>
                <a:latin typeface="Google Sans Flex"/>
              </a:rPr>
              <a:t>Sustainability &amp; Social Impact — fuel and CO2e for farm-machinery fleets, with honest confidence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4320" y="1234440"/>
            <a:ext cx="8595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02124"/>
                </a:solidFill>
                <a:latin typeface="Google Sans Flex"/>
              </a:rPr>
              <a:t>FieldCarbon: where a farm-machinery fleet wastes fuel, what to change, and how sure we are.</a:t>
            </a:r>
            <a:r>
              <a:rPr sz="1500" b="0">
                <a:solidFill>
                  <a:srgbClr val="202124"/>
                </a:solidFill>
                <a:latin typeface="Google Sans Flex"/>
              </a:rPr>
              <a:t> Every figure traceable.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1874519"/>
            <a:ext cx="4206240" cy="2240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F6B3F"/>
                </a:solidFill>
                <a:latin typeface="Google Sans Flex"/>
              </a:rPr>
              <a:t>The problem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Agricultural contractors and co-operatives run tractors across many client farms.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Buyers now ask them for fuel and CO2e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per farm and per job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.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Fuel is bought in bulk, dispensed from one depot tank and burned across dozens of clients; the paperwork is on paper or in people's heads.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Carbon tools give one number with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no error bar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 and no next step.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63440" y="1874519"/>
            <a:ext cx="4206240" cy="2240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F6B3F"/>
                </a:solidFill>
                <a:latin typeface="Google Sans Flex"/>
              </a:rPr>
              <a:t>FieldCarbon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Turns telemetry, fuel logs,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photos of delivery notes and job sheets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, and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voice notes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 into fuel, cost and CO2e by site, machine, job, field and client.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Finds waste and tests its causes; ranks what to change by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strength of evidence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.</a:t>
            </a:r>
          </a:p>
          <a:p>
            <a:pPr marL="146304" indent="-146304" algn="l">
              <a:spcAft>
                <a:spcPts val="4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Proves savings before and after; writes a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traceable statement per client farm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" y="4224528"/>
            <a:ext cx="8595360" cy="384048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 w="15875">
            <a:solidFill>
              <a:srgbClr val="2021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oogle Sans Flex"/>
              </a:rPr>
              <a:t>Gemini reads and explains.  Tested code does every calculation.  An auditor checks every number Gemini writes.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274320" y="1234440"/>
            <a:ext cx="2798064" cy="28803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F6B3F"/>
                </a:solidFill>
                <a:latin typeface="Google Sans Flex"/>
              </a:rPr>
              <a:t>How is it different?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Other tools give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a number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. FieldCarbon says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what to change, how sure we are, and what data would make us surer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Every figure carries a label as text: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MEASURED, ALLOCATED or ESTIMATED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, and opens into its sources, emission factor and calculation.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Savings are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ranges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from published research, never a single promise.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172968" y="1234440"/>
            <a:ext cx="2798064" cy="28803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F6B3F"/>
                </a:solidFill>
                <a:latin typeface="Google Sans Flex"/>
              </a:rPr>
              <a:t>How does it solve the problem?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Uses data contractors already have: telemetry CSVs, a fuel log,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photos of paperwork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, voice notes.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Splits fleet fuel to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each client farm and job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, so a contractor can answer a buyer's request.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Checks deliveries vs dispenses vs fuel burned, and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tests the causes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of each gap.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Ranks only changes that fit this fleet.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71616" y="1234440"/>
            <a:ext cx="2798064" cy="28803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F6B3F"/>
                </a:solidFill>
                <a:latin typeface="Google Sans Flex"/>
              </a:rPr>
              <a:t>USP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Uncertainty is the product: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labels on 100% of figures, and "what would improve this answer?" names the one missing input that most narrows a range.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Gemini never does the maths: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an auditor traces every number in an AI answer to a tool output.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Proof, not promises: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savings judged against machines that did not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74320" y="123444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Carbon ledger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Tonnes emitted, a bounded range that could be avoided, tonnes proven avoided, goal check.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50591" y="123444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Week summary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 three things to look at first, chosen by fixed rules in code.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26864" y="123444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Sites, machines, jobs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The same job compared across machines: L/ha, L/h, idle share.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03136" y="123444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Client farms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Fuel and CO2e for every client farm the fleet works for.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4320" y="242316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Fuel 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Depot deliveries vs dispenses vs fuel burned, month by month.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450591" y="242316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Delivery-note reading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Gemini reads photos (also live upload); code checks them against the fuel log.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626864" y="242316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Anomaly diagnosis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Code tests a fixed menu of causes; Gemini suggests; a person decides.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803136" y="242316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Voice notes &amp; job sheets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Gemini hears machine faults and reads handwritten workshop sheets.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74320" y="361188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Ranked ideas &amp; what-if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8 interventions with litres, CO2e, cost and payback ranges, and their evidence.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450591" y="361188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Before-and-after proof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Logged changes judged against machines that did not change.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26864" y="361188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Fleet analyst agent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Ask in plain language; shows its tools; every number traced.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03136" y="3611880"/>
            <a:ext cx="2075688" cy="10972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F6B3F"/>
                </a:solidFill>
                <a:latin typeface="Google Sans Flex"/>
              </a:rPr>
              <a:t>Client reports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One-page statement in English, German, Spanish or Hindi; print or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74320" y="128016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1  Capture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Telemetry CSV, fuel log, photos of delivery notes and job sheets, voice notes.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234439" y="2258568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5F6368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You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176271" y="1897380"/>
            <a:ext cx="310897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2514599" y="128016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2  Read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Gemini 3.5 Flash turns photos and audio into a fixed JSON schema; text on a document is never followed.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474719" y="2258568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Gemini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416551" y="1897380"/>
            <a:ext cx="31089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754879" y="128016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3  Check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Rules R1–R8; compared with the fuel log: matches, differs, not in log, keyed twice, needs review.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714999" y="2258568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Code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656831" y="1897380"/>
            <a:ext cx="31089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6995159" y="128016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4  Calculate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Litres × UK GHG 2025 factor (well-to-wheel) in BigQuery; every figure labelled.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55279" y="2258568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Code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4320" y="283464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5  Find &amp; diagnose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Fuel gaps, frozen recorders, unusual jobs; causes tested against the data.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234439" y="3813048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Code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176271" y="3451860"/>
            <a:ext cx="310897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2514599" y="283464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6  Act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Ideas ranked by evidence; savings as ranges; "what would improve this answer?"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474719" y="3813048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Code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4416551" y="3451860"/>
            <a:ext cx="31089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4754879" y="283464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7  Prove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Before-and-after against machines that did not change.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714999" y="3813048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Code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656831" y="3451860"/>
            <a:ext cx="310896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6995159" y="283464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6B3F"/>
                </a:solidFill>
                <a:latin typeface="Google Sans Flex"/>
              </a:rPr>
              <a:t>8  Report &amp; ask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Client statement in 4 languages; the analyst agent answers questions.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772400" y="3813048"/>
            <a:ext cx="1051560" cy="201168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Google Sans Flex"/>
              </a:rPr>
              <a:t>Gemini + auditor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932419" y="2514600"/>
            <a:ext cx="0" cy="160020"/>
          </a:xfrm>
          <a:prstGeom prst="line">
            <a:avLst/>
          </a:prstGeom>
          <a:ln w="1905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1211580" y="2674620"/>
            <a:ext cx="6720839" cy="0"/>
          </a:xfrm>
          <a:prstGeom prst="line">
            <a:avLst/>
          </a:prstGeom>
          <a:ln w="1905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211580" y="2674620"/>
            <a:ext cx="0" cy="16002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74320" y="4224528"/>
            <a:ext cx="8595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Use case: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 the fleet manager asks "Where did we waste fuel this season, and what should we change first?" → the agent calls the tools → an answer whose every number is traced → the manager prints each client's statement.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274320" y="141732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Tractor telemetry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3 public datasets (CAN bus, GNSS, fuel rate)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74320" y="251460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Paperwork photos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Delivery notes, receipts, workshop sheets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74320" y="361188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Reference tables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Emission factors, fuel-use rates, 8 interventions, prices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148840" y="1234440"/>
            <a:ext cx="5120640" cy="32004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1A73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Google Cloud  ·  us-central1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331720" y="164592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Cloud Storage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raw archives, images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331720" y="283464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BigQuery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dataset fieldcarbon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tables, SQL views (litres × factor), GIS for fields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800" y="1645920"/>
            <a:ext cx="1600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Vertex AI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Gemini 3.5 Flash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(global endpoint)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114800" y="283464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Cloud Run: backend</a:t>
            </a:r>
          </a:p>
          <a:p>
            <a:pPr marL="146304" indent="-146304" algn="l">
              <a:spcAft>
                <a:spcPts val="200"/>
              </a:spcAft>
              <a:buChar char="•"/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FastAPI</a:t>
            </a:r>
          </a:p>
          <a:p>
            <a:pPr marL="146304" indent="-146304" algn="l">
              <a:spcAft>
                <a:spcPts val="200"/>
              </a:spcAft>
              <a:buChar char="•"/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deterministic tools</a:t>
            </a:r>
          </a:p>
          <a:p>
            <a:pPr marL="146304" indent="-146304" algn="l">
              <a:spcAft>
                <a:spcPts val="200"/>
              </a:spcAft>
              <a:buChar char="•"/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ADK analyst agent</a:t>
            </a:r>
          </a:p>
          <a:p>
            <a:pPr marL="146304" indent="-146304" algn="l">
              <a:spcAft>
                <a:spcPts val="200"/>
              </a:spcAft>
              <a:buChar char="•"/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auditor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89320" y="283464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Cloud Run: frontend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React app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498079" y="28346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F6B3F"/>
                </a:solidFill>
                <a:latin typeface="Google Sans Flex"/>
              </a:rPr>
              <a:t>Fleet manager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browser; uploads photos and voice notes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874519" y="1847088"/>
            <a:ext cx="457201" cy="73152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874519" y="2194560"/>
            <a:ext cx="457201" cy="749808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874519" y="3749039"/>
            <a:ext cx="457201" cy="292609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063240" y="2377440"/>
            <a:ext cx="0" cy="45720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794760" y="3520440"/>
            <a:ext cx="320040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910328" y="2423160"/>
            <a:ext cx="0" cy="411480"/>
          </a:xfrm>
          <a:prstGeom prst="line">
            <a:avLst/>
          </a:prstGeom>
          <a:ln w="19050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715000" y="3291840"/>
            <a:ext cx="274320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132320" y="3291840"/>
            <a:ext cx="365759" cy="0"/>
          </a:xfrm>
          <a:prstGeom prst="line">
            <a:avLst/>
          </a:prstGeom>
          <a:ln w="19050">
            <a:solidFill>
              <a:srgbClr val="5F63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Gemini reads documents and audio, plans tool calls and explains. </a:t>
            </a:r>
            <a:r>
              <a:rPr sz="950" b="1">
                <a:solidFill>
                  <a:srgbClr val="5F6368"/>
                </a:solidFill>
                <a:latin typeface="Google Sans Flex"/>
              </a:rPr>
              <a:t>Every number comes from the tools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; the auditor traces each number in an answer. Only synthetic documents and demo questions are sent to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274320" y="1280160"/>
          <a:ext cx="859536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 Flex"/>
                        </a:rPr>
                        <a:t>Layer</a:t>
                      </a:r>
                    </a:p>
                  </a:txBody>
                  <a:tcPr marL="54864" marR="54864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oogle Sans Flex"/>
                        </a:rPr>
                        <a:t>Technology</a:t>
                      </a:r>
                    </a:p>
                  </a:txBody>
                  <a:tcPr marL="54864" marR="54864" marT="18288" marB="18288" anchor="ctr">
                    <a:solidFill>
                      <a:srgbClr val="202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AI model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Google Sans Flex"/>
                        </a:rPr>
                        <a:t>Gemini 3.5 Flash on Vertex AI</a:t>
                      </a:r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 (multimodal: images and audio), global endpoint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Agent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Google Sans Flex"/>
                        </a:rPr>
                        <a:t>Google Agent Development Kit (ADK)</a:t>
                      </a:r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, tool calling; deterministic auditor for faithfulness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Google Sans Flex"/>
                        </a:rPr>
                        <a:t>BigQuery</a:t>
                      </a:r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 (tables, SQL views, BigQuery GIS), </a:t>
                      </a:r>
                      <a:r>
                        <a:rPr sz="1100" b="1">
                          <a:solidFill>
                            <a:srgbClr val="202124"/>
                          </a:solidFill>
                          <a:latin typeface="Google Sans Flex"/>
                        </a:rPr>
                        <a:t>Cloud Storage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Hosting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Google Sans Flex"/>
                        </a:rPr>
                        <a:t>Cloud Run</a:t>
                      </a:r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 (frontend and backend), Cloud Build, Artifact Registry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Backend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Python, FastAPI, pytest (every calculation unit-tested); eval harness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Frontend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React, Vite, Tailwind CSS; WCAG contrast, labels as text, 4 languages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Reference 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Google Sans Flex"/>
                        </a:rPr>
                        <a:t>UK GHG Conversion Factors 2025 · Iowa State A3-27 and Purdue AE-110 fuel-use rates · Defra red diesel prices · peer-reviewed and extension studies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274320" y="1234440"/>
            <a:ext cx="2798064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F6B3F"/>
                </a:solidFill>
                <a:latin typeface="Google Sans Flex"/>
              </a:rPr>
              <a:t>Cloud Run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Scales to zero: pay only while the app is in use.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Two small services (frontend, backend).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172968" y="1234440"/>
            <a:ext cx="2798064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F6B3F"/>
                </a:solidFill>
                <a:latin typeface="Google Sans Flex"/>
              </a:rPr>
              <a:t>BigQuery and Storage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The whole fleet is a few MB.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Queries stay in the free tier at this size.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071616" y="1234440"/>
            <a:ext cx="2798064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F6B3F"/>
                </a:solidFill>
                <a:latin typeface="Google Sans Flex"/>
              </a:rPr>
              <a:t>Gemini (measured tokens)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About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3,000 tokens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per document read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About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1,600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per voice note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About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3,500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per client statement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"/>
              </a:rPr>
              <a:t>About </a:t>
            </a:r>
            <a:r>
              <a:rPr sz="1050" b="1">
                <a:solidFill>
                  <a:srgbClr val="202124"/>
                </a:solidFill>
                <a:latin typeface="Google Sans Flex"/>
              </a:rPr>
              <a:t>17,400</a:t>
            </a:r>
            <a:r>
              <a:rPr sz="1050" b="0">
                <a:solidFill>
                  <a:srgbClr val="202124"/>
                </a:solidFill>
                <a:latin typeface="Google Sans Flex"/>
              </a:rPr>
              <a:t> per analyst question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74320" y="2697480"/>
            <a:ext cx="8595360" cy="10515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F6B3F"/>
                </a:solidFill>
                <a:latin typeface="Google Sans Flex"/>
              </a:rPr>
              <a:t>Example month for a contractor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50 delivery notes + 20 voice notes + 10 client statements + 100 analyst questions ≈ </a:t>
            </a:r>
            <a:r>
              <a:rPr sz="1100" b="1">
                <a:solidFill>
                  <a:srgbClr val="202124"/>
                </a:solidFill>
                <a:latin typeface="Google Sans Flex"/>
              </a:rPr>
              <a:t>1.95 million tokens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 (150k + 32k + 35k + 1.74M).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C5221F"/>
                </a:solidFill>
                <a:latin typeface="Google Sans Flex"/>
              </a:rPr>
              <a:t>TODO: × current Vertex AI price for gemini-3.5-flash = $ per month.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Token counts are the ones Vertex AI reported in our live runs; analyst questions dominate the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274320" y="1234440"/>
            <a:ext cx="2798064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5221F"/>
                </a:solidFill>
                <a:latin typeface="Google Sans Flex"/>
              </a:rPr>
              <a:t>Insert screenshot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Overview: carbon ledger and week summary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172968" y="1234440"/>
            <a:ext cx="2798064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5221F"/>
                </a:solidFill>
                <a:latin typeface="Google Sans Flex"/>
              </a:rPr>
              <a:t>Insert screenshot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Fuel control: a delivery note read and checked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071616" y="1234440"/>
            <a:ext cx="2798064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5221F"/>
                </a:solidFill>
                <a:latin typeface="Google Sans Flex"/>
              </a:rPr>
              <a:t>Insert screenshot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Diagnosis: causes supported / not supported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74320" y="2971800"/>
            <a:ext cx="2798064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5221F"/>
                </a:solidFill>
                <a:latin typeface="Google Sans Flex"/>
              </a:rPr>
              <a:t>Insert screenshot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Opportunities: ranked ideas with ranges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172968" y="2971800"/>
            <a:ext cx="2798064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5221F"/>
                </a:solidFill>
                <a:latin typeface="Google Sans Flex"/>
              </a:rPr>
              <a:t>Insert screenshot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Ask the analyst: "Numbers checked by code"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071616" y="2971800"/>
            <a:ext cx="2798064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ADC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5221F"/>
                </a:solidFill>
                <a:latin typeface="Google Sans Flex"/>
              </a:rPr>
              <a:t>Insert screenshot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Reports: client statement with labels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274320" y="1188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02124"/>
                </a:solidFill>
                <a:latin typeface="Google Sans Flex"/>
              </a:rPr>
              <a:t>16,492 L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Google Sans Flex"/>
              </a:rPr>
              <a:t>fuel (allocated)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011679" y="1188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02124"/>
                </a:solidFill>
                <a:latin typeface="Google Sans Flex"/>
              </a:rPr>
              <a:t>55.8 t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Google Sans Flex"/>
              </a:rPr>
              <a:t>CO2e (allocated)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749039" y="1188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02124"/>
                </a:solidFill>
                <a:latin typeface="Google Sans Flex"/>
              </a:rPr>
              <a:t>713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Google Sans Flex"/>
              </a:rPr>
              <a:t>jobs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486399" y="1188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02124"/>
                </a:solidFill>
                <a:latin typeface="Google Sans Flex"/>
              </a:rPr>
              <a:t>1,800 ha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Google Sans Flex"/>
              </a:rPr>
              <a:t>worked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223759" y="118872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02124"/>
                </a:solidFill>
                <a:latin typeface="Google Sans Flex"/>
              </a:rPr>
              <a:t>1.1–3.3 t/yr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Google Sans Flex"/>
              </a:rPr>
              <a:t>cut (estimated)</a:t>
            </a:r>
          </a:p>
        </p:txBody>
      </p:sp>
      <p:graphicFrame>
        <p:nvGraphicFramePr>
          <p:cNvPr id="149" name="Table 148"/>
          <p:cNvGraphicFramePr>
            <a:graphicFrameLocks noGrp="1"/>
          </p:cNvGraphicFramePr>
          <p:nvPr/>
        </p:nvGraphicFramePr>
        <p:xfrm>
          <a:off x="274320" y="1874519"/>
          <a:ext cx="8595360" cy="2386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oogle Sans Flex"/>
                        </a:rPr>
                        <a:t>Evaluation (python -m evals.run_all)</a:t>
                      </a:r>
                    </a:p>
                  </a:txBody>
                  <a:tcPr marL="54864" marR="54864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Google Sans Flex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202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Tool eval cases · figures with a confidence label and sources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72 of 72 · 100% of 918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Analyst agent, 43 live questions: right tools / every number traced / ideas cite source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100% / 100% / 100%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Agent refusals (ranking operators, farming advice, forecasts, guarantees, injected rules)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7 of 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Gemini reading, every field: 24 receipts, 14 delivery notes, 36 workshop sheets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Voice notes, 8 recorded clips: machine and issue / expected status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8 of 8 / 8 of 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Planted fuel problems found / top supported cause is the planted one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3 of 3 / 3 of 3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Before-and-after, 150 random trials: false saving claimed / 90% range holds truth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9% / 91–97%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Receipts-only estimate vs telemetry truth (job types inside the range)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  <a:latin typeface="Google Sans Flex"/>
                        </a:rPr>
                        <a:t>8 of 12</a:t>
                      </a:r>
                    </a:p>
                  </a:txBody>
                  <a:tcPr marL="54864" marR="54864" marT="18288" marB="18288" anchor="ctr"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274320" y="4325112"/>
            <a:ext cx="8595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Honest notes: 17 of 43 first agent answers needed one automatic rewrite. Document images are synthetic renders, so 100% shows the pipeline works, not every real receipt. Demo data: illustrative.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274320" y="1234440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F6B3F"/>
                </a:solidFill>
                <a:latin typeface="Google Sans Flex"/>
              </a:rPr>
              <a:t>Next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Live fleet telemetry exports (CSV today, no brand lock-in).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Co-operative and advisor view across many contractors.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Field-level soil and terrain at scale; alerts when a machine drifts from its peers.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Production: scheduled BigQuery loads, data-quality checks, layered ingestion.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663440" y="1234440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1587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F6B3F"/>
                </a:solidFill>
                <a:latin typeface="Google Sans Flex"/>
              </a:rPr>
              <a:t>Responsible by design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Operators are never named, ranked or compared.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Uploads are checked by their bytes and never stored; no coordinates published.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Prompts ignore instructions written on documents or spoken in recordings.</a:t>
            </a:r>
          </a:p>
          <a:p>
            <a:pPr marL="146304" indent="-146304" algn="l">
              <a:spcAft>
                <a:spcPts val="500"/>
              </a:spcAft>
              <a:buChar char="•"/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Reports say "traceable", never "verified"; savings are never guaranteed.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Data credits: Götz et al. (2025), TUM Agricultural Load Cycles, CC BY 4.0 · Rossi &amp; Alemanno, tractor performances in vineyard operations, CC BY 4.0 · Dana, Ozener &amp; Tellioglu, Tümosan tillage CAN bus data, CC BY 4.0 · UK DESNZ GHG Conversion Factors 2025, Open Government Licence v3.0. Brands removed; data aggregated.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sz="1300" b="0">
                <a:solidFill>
                  <a:srgbClr val="202124"/>
                </a:solidFill>
                <a:latin typeface="Google Sans Flex"/>
              </a:rPr>
              <a:t>: </a:t>
            </a:r>
            <a:r>
              <a:rPr sz="1300" b="0">
                <a:solidFill>
                  <a:srgbClr val="1A73E8"/>
                </a:solidFill>
                <a:latin typeface="Google Sans Flex"/>
                <a:hlinkClick r:id="rId5"/>
              </a:rPr>
              <a:t>https://github.com/Hitmantejas/FieldCarbon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sz="1300" b="0">
                <a:solidFill>
                  <a:srgbClr val="202124"/>
                </a:solidFill>
                <a:latin typeface="Google Sans Flex"/>
              </a:rPr>
              <a:t>: </a:t>
            </a:r>
            <a:r>
              <a:rPr sz="1300" b="1">
                <a:solidFill>
                  <a:srgbClr val="C5221F"/>
                </a:solidFill>
                <a:latin typeface="Google Sans Flex"/>
              </a:rPr>
              <a:t>TODO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sz="1300" b="0">
                <a:solidFill>
                  <a:srgbClr val="202124"/>
                </a:solidFill>
                <a:latin typeface="Google Sans Flex"/>
              </a:rPr>
              <a:t>: </a:t>
            </a:r>
            <a:r>
              <a:rPr sz="1300" b="0">
                <a:solidFill>
                  <a:srgbClr val="1A73E8"/>
                </a:solidFill>
                <a:latin typeface="Google Sans Flex"/>
                <a:hlinkClick r:id="rId6"/>
              </a:rPr>
              <a:t>https://fieldcarbon-frontend-818326148498.us-central1.run.app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98dc247-4164-4d99-a44b-ea177dbebdb9}" enabled="1" method="Privileged" siteId="{139f0669-cebb-42df-b9e3-415009ddb69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1754</Words>
  <Application>Microsoft Office PowerPoint</Application>
  <PresentationFormat>On-screen Show (16:9)</PresentationFormat>
  <Paragraphs>201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Google Sans Flex SemiBold</vt:lpstr>
      <vt:lpstr>Arial</vt:lpstr>
      <vt:lpstr>Google Sans Flex Medium</vt:lpstr>
      <vt:lpstr>Google Sans Flex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Tejas Bhorade</cp:lastModifiedBy>
  <cp:revision>1</cp:revision>
  <dcterms:modified xsi:type="dcterms:W3CDTF">2026-10-18T11:46:48Z</dcterms:modified>
</cp:coreProperties>
</file>